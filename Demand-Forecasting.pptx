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embeddedFontLst>
    <p:embeddedFont>
      <p:font typeface="Bitter Medium" panose="020B0604020202020204" charset="0"/>
      <p:regular r:id="rId4"/>
    </p:embeddedFont>
    <p:embeddedFont>
      <p:font typeface="Open Sans" panose="020B0606030504020204" pitchFamily="34" charset="0"/>
      <p:regular r:id="rId5"/>
    </p:embeddedFont>
    <p:embeddedFont>
      <p:font typeface="Open Sans Bold" panose="020B0806030504020204" charset="0"/>
      <p:regular r:id="rId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799BA-1B43-4695-9CC3-0B019DAFBFB6}" v="11" dt="2026-06-27T21:43:54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microsoft.com/office/2016/11/relationships/changesInfo" Target="changesInfos/changesInfo1.xml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Sagar Arora" userId="c167f554f421d3e1" providerId="LiveId" clId="{E0F2FD49-E75F-4278-A3D3-C1D248F0976A}"/>
    <pc:docChg chg="undo custSel modSld">
      <pc:chgData name="Vivek Sagar Arora" userId="c167f554f421d3e1" providerId="LiveId" clId="{E0F2FD49-E75F-4278-A3D3-C1D248F0976A}" dt="2026-06-27T21:43:54.683" v="64"/>
      <pc:docMkLst>
        <pc:docMk/>
      </pc:docMkLst>
      <pc:sldChg chg="addSp modSp mod">
        <pc:chgData name="Vivek Sagar Arora" userId="c167f554f421d3e1" providerId="LiveId" clId="{E0F2FD49-E75F-4278-A3D3-C1D248F0976A}" dt="2026-06-27T21:43:54.683" v="64"/>
        <pc:sldMkLst>
          <pc:docMk/>
          <pc:sldMk cId="0" sldId="256"/>
        </pc:sldMkLst>
        <pc:spChg chg="mod">
          <ac:chgData name="Vivek Sagar Arora" userId="c167f554f421d3e1" providerId="LiveId" clId="{E0F2FD49-E75F-4278-A3D3-C1D248F0976A}" dt="2026-06-27T21:41:27.719" v="57"/>
          <ac:spMkLst>
            <pc:docMk/>
            <pc:sldMk cId="0" sldId="256"/>
            <ac:spMk id="7" creationId="{00000000-0000-0000-0000-000000000000}"/>
          </ac:spMkLst>
        </pc:spChg>
        <pc:spChg chg="mod">
          <ac:chgData name="Vivek Sagar Arora" userId="c167f554f421d3e1" providerId="LiveId" clId="{E0F2FD49-E75F-4278-A3D3-C1D248F0976A}" dt="2026-06-27T21:42:55.758" v="62"/>
          <ac:spMkLst>
            <pc:docMk/>
            <pc:sldMk cId="0" sldId="256"/>
            <ac:spMk id="8" creationId="{00000000-0000-0000-0000-000000000000}"/>
          </ac:spMkLst>
        </pc:spChg>
        <pc:spChg chg="mod">
          <ac:chgData name="Vivek Sagar Arora" userId="c167f554f421d3e1" providerId="LiveId" clId="{E0F2FD49-E75F-4278-A3D3-C1D248F0976A}" dt="2026-06-27T21:43:45.014" v="63"/>
          <ac:spMkLst>
            <pc:docMk/>
            <pc:sldMk cId="0" sldId="256"/>
            <ac:spMk id="11" creationId="{00000000-0000-0000-0000-000000000000}"/>
          </ac:spMkLst>
        </pc:spChg>
        <pc:spChg chg="mod">
          <ac:chgData name="Vivek Sagar Arora" userId="c167f554f421d3e1" providerId="LiveId" clId="{E0F2FD49-E75F-4278-A3D3-C1D248F0976A}" dt="2026-06-27T21:43:54.683" v="64"/>
          <ac:spMkLst>
            <pc:docMk/>
            <pc:sldMk cId="0" sldId="256"/>
            <ac:spMk id="12" creationId="{00000000-0000-0000-0000-000000000000}"/>
          </ac:spMkLst>
        </pc:spChg>
        <pc:spChg chg="mod">
          <ac:chgData name="Vivek Sagar Arora" userId="c167f554f421d3e1" providerId="LiveId" clId="{E0F2FD49-E75F-4278-A3D3-C1D248F0976A}" dt="2026-06-27T21:42:11.377" v="59"/>
          <ac:spMkLst>
            <pc:docMk/>
            <pc:sldMk cId="0" sldId="256"/>
            <ac:spMk id="35" creationId="{00000000-0000-0000-0000-000000000000}"/>
          </ac:spMkLst>
        </pc:spChg>
        <pc:spChg chg="mod">
          <ac:chgData name="Vivek Sagar Arora" userId="c167f554f421d3e1" providerId="LiveId" clId="{E0F2FD49-E75F-4278-A3D3-C1D248F0976A}" dt="2026-06-27T21:41:53.409" v="58"/>
          <ac:spMkLst>
            <pc:docMk/>
            <pc:sldMk cId="0" sldId="256"/>
            <ac:spMk id="36" creationId="{00000000-0000-0000-0000-000000000000}"/>
          </ac:spMkLst>
        </pc:spChg>
        <pc:spChg chg="mod">
          <ac:chgData name="Vivek Sagar Arora" userId="c167f554f421d3e1" providerId="LiveId" clId="{E0F2FD49-E75F-4278-A3D3-C1D248F0976A}" dt="2026-06-27T21:37:08.675" v="5"/>
          <ac:spMkLst>
            <pc:docMk/>
            <pc:sldMk cId="0" sldId="256"/>
            <ac:spMk id="38" creationId="{00000000-0000-0000-0000-000000000000}"/>
          </ac:spMkLst>
        </pc:spChg>
        <pc:picChg chg="mod">
          <ac:chgData name="Vivek Sagar Arora" userId="c167f554f421d3e1" providerId="LiveId" clId="{E0F2FD49-E75F-4278-A3D3-C1D248F0976A}" dt="2026-06-27T21:37:47.028" v="10" actId="1076"/>
          <ac:picMkLst>
            <pc:docMk/>
            <pc:sldMk cId="0" sldId="256"/>
            <ac:picMk id="37" creationId="{00000000-0000-0000-0000-000000000000}"/>
          </ac:picMkLst>
        </pc:picChg>
        <pc:picChg chg="add mod">
          <ac:chgData name="Vivek Sagar Arora" userId="c167f554f421d3e1" providerId="LiveId" clId="{E0F2FD49-E75F-4278-A3D3-C1D248F0976A}" dt="2026-06-27T21:40:04.798" v="56" actId="14100"/>
          <ac:picMkLst>
            <pc:docMk/>
            <pc:sldMk cId="0" sldId="256"/>
            <ac:picMk id="39" creationId="{9D98AD00-B2D9-926B-117A-0221253E11A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09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0188"/>
            <a:ext cx="817290" cy="149796"/>
          </a:xfrm>
          <a:prstGeom prst="roundRect">
            <a:avLst>
              <a:gd name="adj" fmla="val 20371"/>
            </a:avLst>
          </a:prstGeom>
          <a:noFill/>
          <a:ln/>
          <a:effectLst>
            <a:outerShdw blurRad="101600" dist="50800" dir="16200000" algn="bl" rotWithShape="0">
              <a:srgbClr val="D2600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50590" y="457423"/>
            <a:ext cx="1165547" cy="9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5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SUMMARY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603200"/>
            <a:ext cx="2727647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Demand Forecasting 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96119" y="974154"/>
            <a:ext cx="8151763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 weekly demand for each supermarket–SKU combination </a:t>
            </a:r>
            <a:r>
              <a:rPr lang="en-US" sz="7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 weeks in advance</a:t>
            </a: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giving production planners the lead time they need to align manufacturing schedules with real demand signals.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1299642"/>
            <a:ext cx="162431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Forecast Performance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1574155"/>
            <a:ext cx="2668786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95%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1262881" y="1962894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IN" sz="900" dirty="0"/>
              <a:t>Forecast Reliability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37607" y="1574155"/>
            <a:ext cx="2668786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27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4004370" y="1962894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Avg. Error (Units)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79096" y="1574155"/>
            <a:ext cx="2668786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IN" sz="2400" dirty="0"/>
              <a:t>8 Weeks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6745858" y="1962894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IN" sz="900" dirty="0"/>
              <a:t>Forecast Horizon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6119" y="2192015"/>
            <a:ext cx="15923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Demand Drivers</a:t>
            </a:r>
            <a:endParaRPr lang="en-US" sz="8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21136"/>
            <a:ext cx="227037" cy="22703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96119" y="2720876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Historical Sales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96119" y="2897684"/>
            <a:ext cx="2668786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Past sales patterns form the baseline for weekly demand projections.</a:t>
            </a:r>
            <a:endParaRPr lang="en-US" sz="7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7607" y="2421136"/>
            <a:ext cx="227037" cy="22703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37607" y="2720876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Promotions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237607" y="2897684"/>
            <a:ext cx="2668786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Active promotional events are factored in to capture demand spikes.</a:t>
            </a:r>
            <a:endParaRPr lang="en-US" sz="7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9096" y="2421136"/>
            <a:ext cx="227037" cy="2270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79096" y="2720876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Seasonal Demand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5979096" y="2897684"/>
            <a:ext cx="2668786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Seasonal trends adjust forecasts for holidays and weather-driven cycles.</a:t>
            </a:r>
            <a:endParaRPr lang="en-US" sz="700" dirty="0"/>
          </a:p>
        </p:txBody>
      </p:sp>
      <p:sp>
        <p:nvSpPr>
          <p:cNvPr id="23" name="Shape 18"/>
          <p:cNvSpPr/>
          <p:nvPr/>
        </p:nvSpPr>
        <p:spPr>
          <a:xfrm>
            <a:off x="496119" y="3224064"/>
            <a:ext cx="8151763" cy="9525"/>
          </a:xfrm>
          <a:prstGeom prst="roundRect">
            <a:avLst>
              <a:gd name="adj" fmla="val 60000"/>
            </a:avLst>
          </a:prstGeom>
          <a:solidFill>
            <a:srgbClr val="2B2E3C">
              <a:alpha val="50000"/>
            </a:srgbClr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321695"/>
            <a:ext cx="4046786" cy="4965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4529" y="3422005"/>
            <a:ext cx="144303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Better Production Planning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634529" y="3598813"/>
            <a:ext cx="3808065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Align weekly manufacturing schedules with reliable demand forecasts.</a:t>
            </a:r>
            <a:endParaRPr lang="en-US" sz="7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01021" y="3321695"/>
            <a:ext cx="4046860" cy="49656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39432" y="3422005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Fewer Stock-Outs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4739432" y="3598813"/>
            <a:ext cx="380814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Keep high-velocity SKUs on shelf and protect revenue at peak periods.</a:t>
            </a:r>
            <a:endParaRPr lang="en-US" sz="7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876377"/>
            <a:ext cx="4046786" cy="49656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4529" y="3976688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Lower Write-Offs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634529" y="4153495"/>
            <a:ext cx="3808065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perishable waste by avoiding overproduction across locations.</a:t>
            </a:r>
            <a:endParaRPr lang="en-US" sz="7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01021" y="3876377"/>
            <a:ext cx="4046860" cy="49656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739432" y="3976688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Smarter Allocation</a:t>
            </a:r>
            <a:endParaRPr lang="en-US" sz="850" dirty="0"/>
          </a:p>
        </p:txBody>
      </p:sp>
      <p:sp>
        <p:nvSpPr>
          <p:cNvPr id="35" name="Text 26"/>
          <p:cNvSpPr/>
          <p:nvPr/>
        </p:nvSpPr>
        <p:spPr>
          <a:xfrm>
            <a:off x="4739432" y="4153495"/>
            <a:ext cx="380814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9000"/>
              </a:lnSpc>
            </a:pPr>
            <a:r>
              <a:rPr lang="en-IN" sz="800" dirty="0"/>
              <a:t>Allocate inventory more effectively across supermarkets based on expected demand.</a:t>
            </a:r>
            <a:endParaRPr lang="en-US" sz="700" dirty="0"/>
          </a:p>
        </p:txBody>
      </p:sp>
      <p:sp>
        <p:nvSpPr>
          <p:cNvPr id="36" name="Shape 27"/>
          <p:cNvSpPr/>
          <p:nvPr/>
        </p:nvSpPr>
        <p:spPr>
          <a:xfrm>
            <a:off x="496119" y="4438352"/>
            <a:ext cx="8151763" cy="274960"/>
          </a:xfrm>
          <a:prstGeom prst="roundRect">
            <a:avLst>
              <a:gd name="adj" fmla="val 13873"/>
            </a:avLst>
          </a:prstGeom>
          <a:solidFill>
            <a:srgbClr val="FCE2CF"/>
          </a:solidFill>
          <a:ln/>
        </p:spPr>
        <p:txBody>
          <a:bodyPr/>
          <a:lstStyle/>
          <a:p>
            <a:r>
              <a:rPr lang="en-IN" sz="800" b="1" dirty="0"/>
              <a:t>        </a:t>
            </a:r>
          </a:p>
          <a:p>
            <a:r>
              <a:rPr lang="en-IN" sz="800" b="1" dirty="0">
                <a:latin typeface="Open Sans Bold" panose="020B0806030504020204" charset="0"/>
                <a:ea typeface="Open Sans Bold" panose="020B0806030504020204" charset="0"/>
                <a:cs typeface="Open Sans Bold" panose="020B0806030504020204" charset="0"/>
              </a:rPr>
              <a:t>        </a:t>
            </a:r>
          </a:p>
          <a:p>
            <a:r>
              <a:rPr lang="en-IN" sz="800" b="1" dirty="0">
                <a:latin typeface="Open Sans Bold" panose="020B0806030504020204" charset="0"/>
                <a:ea typeface="Open Sans Bold" panose="020B0806030504020204" charset="0"/>
                <a:cs typeface="Open Sans Bold" panose="020B0806030504020204" charset="0"/>
              </a:rPr>
              <a:t>       Conclusion:</a:t>
            </a:r>
            <a:r>
              <a:rPr lang="en-IN" sz="800" dirty="0">
                <a:latin typeface="Open Sans Bold" panose="020B0806030504020204" charset="0"/>
                <a:ea typeface="Open Sans Bold" panose="020B0806030504020204" charset="0"/>
                <a:cs typeface="Open Sans Bold" panose="020B0806030504020204" charset="0"/>
              </a:rPr>
              <a:t> </a:t>
            </a:r>
            <a:r>
              <a:rPr lang="en-IN" sz="800" dirty="0"/>
              <a:t>Reliable 8-week demand forecasts enable better production planning, reducing both stock-outs and excess inventory.</a:t>
            </a:r>
            <a:endParaRPr lang="en-IN" dirty="0">
              <a:ea typeface="Open Sans Bold" panose="020B0806030504020204" charset="0"/>
              <a:cs typeface="Open Sans Bold" panose="020B0806030504020204" charset="0"/>
            </a:endParaRPr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904" y="4553322"/>
            <a:ext cx="113481" cy="9078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91170" y="4519166"/>
            <a:ext cx="8223126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9000"/>
              </a:lnSpc>
            </a:pPr>
            <a:r>
              <a:rPr lang="en-US" sz="7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Recommendation:</a:t>
            </a: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IN" sz="800" dirty="0"/>
              <a:t>Use the forecasting model to update weekly production plans, helping match supply with expected customer demand.</a:t>
            </a:r>
            <a:endParaRPr lang="en-US" sz="7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E0D7CEB-6E58-5557-DB8B-BF313757DE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8047" y="4868090"/>
            <a:ext cx="3375953" cy="205758"/>
          </a:xfrm>
          <a:prstGeom prst="rect">
            <a:avLst/>
          </a:prstGeom>
        </p:spPr>
      </p:pic>
      <p:pic>
        <p:nvPicPr>
          <p:cNvPr id="39" name="Image 7" descr="preencoded.png">
            <a:extLst>
              <a:ext uri="{FF2B5EF4-FFF2-40B4-BE49-F238E27FC236}">
                <a16:creationId xmlns:a16="http://schemas.microsoft.com/office/drawing/2014/main" id="{9D98AD00-B2D9-926B-117A-0221253E11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178" y="4747086"/>
            <a:ext cx="119207" cy="953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184</Words>
  <Application>Microsoft Office PowerPoint</Application>
  <PresentationFormat>On-screen Show (16:9)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Bitter Medium</vt:lpstr>
      <vt:lpstr>Arial</vt:lpstr>
      <vt:lpstr>Open Sans</vt:lpstr>
      <vt:lpstr>Open Sans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Vivek Sagar Arora</cp:lastModifiedBy>
  <cp:revision>2</cp:revision>
  <dcterms:created xsi:type="dcterms:W3CDTF">2026-06-27T21:34:52Z</dcterms:created>
  <dcterms:modified xsi:type="dcterms:W3CDTF">2026-06-27T21:44:00Z</dcterms:modified>
</cp:coreProperties>
</file>